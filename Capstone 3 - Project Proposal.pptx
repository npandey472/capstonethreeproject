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7" roundtripDataSignature="AMtx7mjdo7FECp685JsX7/4pIVeoAktj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727DB9-281B-4EB1-91EE-CEEA8FB5045C}" v="1" dt="2025-09-02T20:29:51.8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854" y="29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notesMaster" Target="notesMasters/notesMaster1.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lam Pandey" userId="2ae105414b09a5f5" providerId="LiveId" clId="{D72BE934-B1DE-4868-9270-54431CB5CE6B}"/>
    <pc:docChg chg="custSel modSld">
      <pc:chgData name="Neelam Pandey" userId="2ae105414b09a5f5" providerId="LiveId" clId="{D72BE934-B1DE-4868-9270-54431CB5CE6B}" dt="2025-09-02T21:16:35.797" v="1318" actId="20577"/>
      <pc:docMkLst>
        <pc:docMk/>
      </pc:docMkLst>
      <pc:sldChg chg="modSp mod">
        <pc:chgData name="Neelam Pandey" userId="2ae105414b09a5f5" providerId="LiveId" clId="{D72BE934-B1DE-4868-9270-54431CB5CE6B}" dt="2025-09-02T21:16:35.797" v="1318" actId="20577"/>
        <pc:sldMkLst>
          <pc:docMk/>
          <pc:sldMk cId="0" sldId="256"/>
        </pc:sldMkLst>
        <pc:spChg chg="mod">
          <ac:chgData name="Neelam Pandey" userId="2ae105414b09a5f5" providerId="LiveId" clId="{D72BE934-B1DE-4868-9270-54431CB5CE6B}" dt="2025-09-02T21:16:25.924" v="1313" actId="20577"/>
          <ac:spMkLst>
            <pc:docMk/>
            <pc:sldMk cId="0" sldId="256"/>
            <ac:spMk id="34" creationId="{00000000-0000-0000-0000-000000000000}"/>
          </ac:spMkLst>
        </pc:spChg>
        <pc:spChg chg="mod">
          <ac:chgData name="Neelam Pandey" userId="2ae105414b09a5f5" providerId="LiveId" clId="{D72BE934-B1DE-4868-9270-54431CB5CE6B}" dt="2025-09-02T20:47:56.275" v="1312" actId="20577"/>
          <ac:spMkLst>
            <pc:docMk/>
            <pc:sldMk cId="0" sldId="256"/>
            <ac:spMk id="35" creationId="{00000000-0000-0000-0000-000000000000}"/>
          </ac:spMkLst>
        </pc:spChg>
        <pc:spChg chg="mod">
          <ac:chgData name="Neelam Pandey" userId="2ae105414b09a5f5" providerId="LiveId" clId="{D72BE934-B1DE-4868-9270-54431CB5CE6B}" dt="2025-09-02T20:47:52.296" v="1311" actId="20577"/>
          <ac:spMkLst>
            <pc:docMk/>
            <pc:sldMk cId="0" sldId="256"/>
            <ac:spMk id="36" creationId="{00000000-0000-0000-0000-000000000000}"/>
          </ac:spMkLst>
        </pc:spChg>
        <pc:spChg chg="mod">
          <ac:chgData name="Neelam Pandey" userId="2ae105414b09a5f5" providerId="LiveId" clId="{D72BE934-B1DE-4868-9270-54431CB5CE6B}" dt="2025-09-02T20:47:45.802" v="1310" actId="20577"/>
          <ac:spMkLst>
            <pc:docMk/>
            <pc:sldMk cId="0" sldId="256"/>
            <ac:spMk id="37" creationId="{00000000-0000-0000-0000-000000000000}"/>
          </ac:spMkLst>
        </pc:spChg>
        <pc:spChg chg="mod">
          <ac:chgData name="Neelam Pandey" userId="2ae105414b09a5f5" providerId="LiveId" clId="{D72BE934-B1DE-4868-9270-54431CB5CE6B}" dt="2025-09-02T20:35:53.957" v="1300" actId="207"/>
          <ac:spMkLst>
            <pc:docMk/>
            <pc:sldMk cId="0" sldId="256"/>
            <ac:spMk id="38" creationId="{00000000-0000-0000-0000-000000000000}"/>
          </ac:spMkLst>
        </pc:spChg>
        <pc:spChg chg="mod">
          <ac:chgData name="Neelam Pandey" userId="2ae105414b09a5f5" providerId="LiveId" clId="{D72BE934-B1DE-4868-9270-54431CB5CE6B}" dt="2025-09-02T20:27:46.473" v="1090" actId="20577"/>
          <ac:spMkLst>
            <pc:docMk/>
            <pc:sldMk cId="0" sldId="256"/>
            <ac:spMk id="47" creationId="{00000000-0000-0000-0000-000000000000}"/>
          </ac:spMkLst>
        </pc:spChg>
        <pc:spChg chg="mod">
          <ac:chgData name="Neelam Pandey" userId="2ae105414b09a5f5" providerId="LiveId" clId="{D72BE934-B1DE-4868-9270-54431CB5CE6B}" dt="2025-09-02T21:16:35.797" v="1318" actId="20577"/>
          <ac:spMkLst>
            <pc:docMk/>
            <pc:sldMk cId="0" sldId="256"/>
            <ac:spMk id="4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b="1"/>
              <a:t>Hypothesis: </a:t>
            </a:r>
            <a:r>
              <a:rPr lang="en-AU" sz="1200" b="0" i="1" u="none" strike="noStrike" cap="none">
                <a:solidFill>
                  <a:srgbClr val="000000"/>
                </a:solidFill>
                <a:latin typeface="Arial"/>
                <a:ea typeface="Arial"/>
                <a:cs typeface="Arial"/>
                <a:sym typeface="Arial"/>
              </a:rPr>
              <a:t>Create a Hypothesis with an emphasis on SMART principles. </a:t>
            </a:r>
            <a:r>
              <a:rPr lang="en-AU" sz="1200" b="1" i="1" u="none" strike="noStrike" cap="none">
                <a:solidFill>
                  <a:srgbClr val="000000"/>
                </a:solidFill>
                <a:latin typeface="Arial"/>
                <a:ea typeface="Arial"/>
                <a:cs typeface="Arial"/>
                <a:sym typeface="Arial"/>
              </a:rPr>
              <a:t>(</a:t>
            </a:r>
            <a:r>
              <a:rPr lang="en-AU" sz="1200" b="1" i="1"/>
              <a:t>S – Specific, M – Measurable, A – Achievable, R – Realistic, T – Timebound). </a:t>
            </a:r>
            <a:r>
              <a:rPr lang="en-AU" sz="1200" b="0" i="0"/>
              <a:t>If you cannot do this, you </a:t>
            </a:r>
            <a:r>
              <a:rPr lang="en-AU" sz="1200" b="1" i="0"/>
              <a:t>do not</a:t>
            </a:r>
            <a:r>
              <a:rPr lang="en-AU" sz="1200" b="0" i="0"/>
              <a:t> have a good grasp on the business problem.</a:t>
            </a:r>
            <a:endParaRPr b="1"/>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AU" b="1"/>
              <a:t>Context: </a:t>
            </a:r>
            <a:r>
              <a:rPr lang="en-AU" sz="1200"/>
              <a:t>With context, we have </a:t>
            </a:r>
            <a:r>
              <a:rPr lang="en-AU" sz="1200" b="1" u="sng"/>
              <a:t>clearly identified the problem at hand </a:t>
            </a:r>
            <a:r>
              <a:rPr lang="en-AU" sz="1200"/>
              <a:t>and have elucidated on how our initiative may solve this problem, alongside the commercial implications this will have on the business. </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r>
              <a:rPr lang="en-AU" b="1"/>
              <a:t>Criteria for Success</a:t>
            </a:r>
            <a:r>
              <a:rPr lang="en-AU" b="0"/>
              <a:t>: Clearly defining the criteria for success ensures that the scope of your work is clearly defined and understood. Otherwise, if this isn’t defined – your work will never end which will result in mismatched expectations.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Scope of Solution Space: </a:t>
            </a:r>
            <a:r>
              <a:rPr lang="en-AU" b="0"/>
              <a:t>Scoping out the solution space ensures that the business initiative is SPECIFIC for a certain segment or area. This prevents solutions that have been developed being scaled and applied for all other business units that the solution may not be responsible or scalable for.</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Constraints within Solution Space: </a:t>
            </a:r>
            <a:r>
              <a:rPr lang="en-AU" b="0"/>
              <a:t>Looking forward, what are the foreseeable problems we are likely to encounter? Could this be stakeholder resistance? Could this be we don’t have access to the right data? </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Stakeholders to provide key insight: </a:t>
            </a:r>
            <a:r>
              <a:rPr lang="en-AU" b="0"/>
              <a:t>Who are the people I need to speak to, to get the answers I need for my data analysis?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What key data sources are required</a:t>
            </a:r>
            <a:r>
              <a:rPr lang="en-AU" b="0"/>
              <a:t>?</a:t>
            </a:r>
            <a:endParaRPr/>
          </a:p>
          <a:p>
            <a:pPr marL="0" lvl="0" indent="0" algn="l" rtl="0">
              <a:lnSpc>
                <a:spcPct val="100000"/>
              </a:lnSpc>
              <a:spcBef>
                <a:spcPts val="0"/>
              </a:spcBef>
              <a:spcAft>
                <a:spcPts val="0"/>
              </a:spcAft>
              <a:buSzPts val="1400"/>
              <a:buNone/>
            </a:pPr>
            <a:r>
              <a:rPr lang="en-AU" b="0"/>
              <a:t>Based off my discussions with the key stakeholders – can we clearly list out all the data sources we need so we can make a highly targeted request as opposed to a scatter-gun approach where we ask for a bit of everything?</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endParaRPr b="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8298444" y="37255"/>
            <a:ext cx="670614"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16"/>
              <a:buFont typeface="Arial"/>
              <a:buNone/>
            </a:pPr>
            <a:endParaRPr sz="816"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body" idx="1"/>
          </p:nvPr>
        </p:nvSpPr>
        <p:spPr>
          <a:xfrm>
            <a:off x="2343099" y="2570857"/>
            <a:ext cx="4389768" cy="12561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32" b="0" i="0" u="none" strike="noStrike" cap="none">
                <a:solidFill>
                  <a:schemeClr val="dk1"/>
                </a:solidFill>
                <a:latin typeface="Arial"/>
                <a:ea typeface="Arial"/>
                <a:cs typeface="Arial"/>
                <a:sym typeface="Arial"/>
              </a:defRPr>
            </a:lvl1pPr>
            <a:lvl2pPr marL="914400" marR="0" lvl="1" indent="-358140" algn="l" rtl="0">
              <a:lnSpc>
                <a:spcPct val="100000"/>
              </a:lnSpc>
              <a:spcBef>
                <a:spcPts val="0"/>
              </a:spcBef>
              <a:spcAft>
                <a:spcPts val="0"/>
              </a:spcAft>
              <a:buClr>
                <a:schemeClr val="dk2"/>
              </a:buClr>
              <a:buSzPts val="2040"/>
              <a:buFont typeface="Arial"/>
              <a:buChar char="▪"/>
              <a:defRPr sz="1632" b="0" i="0" u="none" strike="noStrike" cap="none">
                <a:solidFill>
                  <a:schemeClr val="dk1"/>
                </a:solidFill>
                <a:latin typeface="Arial"/>
                <a:ea typeface="Arial"/>
                <a:cs typeface="Arial"/>
                <a:sym typeface="Arial"/>
              </a:defRPr>
            </a:lvl2pPr>
            <a:lvl3pPr marL="1371600" marR="0" lvl="2"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3pPr>
            <a:lvl4pPr marL="1828800" marR="0" lvl="3"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4pPr>
            <a:lvl5pPr marL="2286000" marR="0" lvl="4"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5pPr>
            <a:lvl6pPr marL="2743200" marR="0" lvl="5"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6pPr>
            <a:lvl7pPr marL="3200400" marR="0" lvl="6"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7pPr>
            <a:lvl8pPr marL="3657600" marR="0" lvl="7"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8pPr>
            <a:lvl9pPr marL="4114800" marR="0" lvl="8"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939"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datasets/crowdflower/twitter-airline-sentimen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p:nvPr/>
        </p:nvSpPr>
        <p:spPr>
          <a:xfrm>
            <a:off x="137949"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1" name="Google Shape;21;p1"/>
          <p:cNvSpPr/>
          <p:nvPr/>
        </p:nvSpPr>
        <p:spPr>
          <a:xfrm>
            <a:off x="4587388"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2" name="Google Shape;22;p1"/>
          <p:cNvSpPr/>
          <p:nvPr/>
        </p:nvSpPr>
        <p:spPr>
          <a:xfrm>
            <a:off x="218936"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1</a:t>
            </a:r>
            <a:endParaRPr sz="1428" b="0" i="0" u="none" strike="noStrike" cap="none">
              <a:solidFill>
                <a:schemeClr val="lt1"/>
              </a:solidFill>
              <a:latin typeface="Arial"/>
              <a:ea typeface="Arial"/>
              <a:cs typeface="Arial"/>
              <a:sym typeface="Arial"/>
            </a:endParaRPr>
          </a:p>
        </p:txBody>
      </p:sp>
      <p:sp>
        <p:nvSpPr>
          <p:cNvPr id="23" name="Google Shape;23;p1"/>
          <p:cNvSpPr/>
          <p:nvPr/>
        </p:nvSpPr>
        <p:spPr>
          <a:xfrm>
            <a:off x="4668375"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4" name="Google Shape;24;p1"/>
          <p:cNvSpPr/>
          <p:nvPr/>
        </p:nvSpPr>
        <p:spPr>
          <a:xfrm>
            <a:off x="601195"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Context</a:t>
            </a:r>
            <a:endParaRPr sz="1400" b="0" i="0" u="none" strike="noStrike" cap="none" dirty="0">
              <a:solidFill>
                <a:srgbClr val="000000"/>
              </a:solidFill>
              <a:latin typeface="Arial"/>
              <a:ea typeface="Arial"/>
              <a:cs typeface="Arial"/>
              <a:sym typeface="Arial"/>
            </a:endParaRPr>
          </a:p>
        </p:txBody>
      </p:sp>
      <p:sp>
        <p:nvSpPr>
          <p:cNvPr id="25" name="Google Shape;25;p1"/>
          <p:cNvSpPr/>
          <p:nvPr/>
        </p:nvSpPr>
        <p:spPr>
          <a:xfrm>
            <a:off x="5050634"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Constraints within solution space</a:t>
            </a:r>
            <a:endParaRPr sz="1400" b="0" i="0" u="none" strike="noStrike" cap="none" dirty="0">
              <a:solidFill>
                <a:srgbClr val="000000"/>
              </a:solidFill>
              <a:latin typeface="Arial"/>
              <a:ea typeface="Arial"/>
              <a:cs typeface="Arial"/>
              <a:sym typeface="Arial"/>
            </a:endParaRPr>
          </a:p>
        </p:txBody>
      </p:sp>
      <p:sp>
        <p:nvSpPr>
          <p:cNvPr id="26" name="Google Shape;26;p1"/>
          <p:cNvSpPr/>
          <p:nvPr/>
        </p:nvSpPr>
        <p:spPr>
          <a:xfrm>
            <a:off x="4668375" y="320709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27" name="Google Shape;27;p1"/>
          <p:cNvSpPr/>
          <p:nvPr/>
        </p:nvSpPr>
        <p:spPr>
          <a:xfrm>
            <a:off x="218936" y="320709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28" name="Google Shape;28;p1"/>
          <p:cNvSpPr/>
          <p:nvPr/>
        </p:nvSpPr>
        <p:spPr>
          <a:xfrm>
            <a:off x="601195" y="323915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Criteria for success</a:t>
            </a:r>
            <a:endParaRPr sz="1400" b="0" i="0" u="none" strike="noStrike" cap="none">
              <a:solidFill>
                <a:srgbClr val="000000"/>
              </a:solidFill>
              <a:latin typeface="Arial"/>
              <a:ea typeface="Arial"/>
              <a:cs typeface="Arial"/>
              <a:sym typeface="Arial"/>
            </a:endParaRPr>
          </a:p>
        </p:txBody>
      </p:sp>
      <p:sp>
        <p:nvSpPr>
          <p:cNvPr id="29" name="Google Shape;29;p1"/>
          <p:cNvSpPr/>
          <p:nvPr/>
        </p:nvSpPr>
        <p:spPr>
          <a:xfrm>
            <a:off x="5050634" y="323915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Stakeholders to provide key insight</a:t>
            </a:r>
            <a:endParaRPr sz="1400" b="0" i="0" u="none" strike="noStrike" cap="none" dirty="0">
              <a:solidFill>
                <a:srgbClr val="000000"/>
              </a:solidFill>
              <a:latin typeface="Arial"/>
              <a:ea typeface="Arial"/>
              <a:cs typeface="Arial"/>
              <a:sym typeface="Arial"/>
            </a:endParaRPr>
          </a:p>
        </p:txBody>
      </p:sp>
      <p:sp>
        <p:nvSpPr>
          <p:cNvPr id="30" name="Google Shape;30;p1"/>
          <p:cNvSpPr/>
          <p:nvPr/>
        </p:nvSpPr>
        <p:spPr>
          <a:xfrm>
            <a:off x="218936" y="479768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31" name="Google Shape;31;p1"/>
          <p:cNvSpPr/>
          <p:nvPr/>
        </p:nvSpPr>
        <p:spPr>
          <a:xfrm>
            <a:off x="4668375" y="479768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32" name="Google Shape;32;p1"/>
          <p:cNvSpPr/>
          <p:nvPr/>
        </p:nvSpPr>
        <p:spPr>
          <a:xfrm>
            <a:off x="601195" y="4831972"/>
            <a:ext cx="3597454" cy="219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Scope of solution space </a:t>
            </a:r>
            <a:endParaRPr sz="1400" b="0" i="0" u="none" strike="noStrike" cap="none">
              <a:solidFill>
                <a:srgbClr val="000000"/>
              </a:solidFill>
              <a:latin typeface="Arial"/>
              <a:ea typeface="Arial"/>
              <a:cs typeface="Arial"/>
              <a:sym typeface="Arial"/>
            </a:endParaRPr>
          </a:p>
        </p:txBody>
      </p:sp>
      <p:sp>
        <p:nvSpPr>
          <p:cNvPr id="33" name="Google Shape;33;p1"/>
          <p:cNvSpPr/>
          <p:nvPr/>
        </p:nvSpPr>
        <p:spPr>
          <a:xfrm>
            <a:off x="5050634" y="482974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dirty="0">
                <a:solidFill>
                  <a:schemeClr val="dk1"/>
                </a:solidFill>
              </a:rPr>
              <a:t>Key</a:t>
            </a:r>
            <a:r>
              <a:rPr lang="en-AU" sz="1428" b="0" i="0" u="none" strike="noStrike" cap="none" dirty="0">
                <a:solidFill>
                  <a:schemeClr val="dk1"/>
                </a:solidFill>
                <a:latin typeface="Arial"/>
                <a:ea typeface="Arial"/>
                <a:cs typeface="Arial"/>
                <a:sym typeface="Arial"/>
              </a:rPr>
              <a:t> data sources </a:t>
            </a:r>
            <a:endParaRPr sz="1400" b="0" i="0" u="none" strike="noStrike" cap="none" dirty="0">
              <a:solidFill>
                <a:srgbClr val="000000"/>
              </a:solidFill>
              <a:latin typeface="Arial"/>
              <a:ea typeface="Arial"/>
              <a:cs typeface="Arial"/>
              <a:sym typeface="Arial"/>
            </a:endParaRPr>
          </a:p>
        </p:txBody>
      </p:sp>
      <p:sp>
        <p:nvSpPr>
          <p:cNvPr id="34" name="Google Shape;34;p1"/>
          <p:cNvSpPr txBox="1"/>
          <p:nvPr/>
        </p:nvSpPr>
        <p:spPr>
          <a:xfrm>
            <a:off x="143108" y="1964976"/>
            <a:ext cx="4324418" cy="1245854"/>
          </a:xfrm>
          <a:prstGeom prst="rect">
            <a:avLst/>
          </a:prstGeom>
          <a:noFill/>
          <a:ln>
            <a:noFill/>
          </a:ln>
        </p:spPr>
        <p:txBody>
          <a:bodyPr spcFirstLastPara="1" wrap="square" lIns="91425" tIns="45700" rIns="91425" bIns="45700" anchor="t" anchorCtr="0">
            <a:noAutofit/>
          </a:bodyPr>
          <a:lstStyle/>
          <a:p>
            <a:r>
              <a:rPr lang="en-US" sz="1200" dirty="0"/>
              <a:t>Airlines face a constant flood of social media messages, but without automated sentiment analysis, they struggle to track customer mood or spot rising complaints in real time. Manual monitoring is too slow and inconsistent, causing delayed responses and missed chances to improve customer experience.</a:t>
            </a:r>
          </a:p>
          <a:p>
            <a:pPr marL="0" marR="0" lvl="0" indent="0" algn="l" rtl="0">
              <a:lnSpc>
                <a:spcPct val="100000"/>
              </a:lnSpc>
              <a:spcBef>
                <a:spcPts val="0"/>
              </a:spcBef>
              <a:spcAft>
                <a:spcPts val="0"/>
              </a:spcAft>
              <a:buNone/>
            </a:pPr>
            <a:endParaRPr dirty="0"/>
          </a:p>
        </p:txBody>
      </p:sp>
      <p:sp>
        <p:nvSpPr>
          <p:cNvPr id="35" name="Google Shape;35;p1"/>
          <p:cNvSpPr txBox="1"/>
          <p:nvPr/>
        </p:nvSpPr>
        <p:spPr>
          <a:xfrm>
            <a:off x="143108" y="3538874"/>
            <a:ext cx="4324418" cy="1410643"/>
          </a:xfrm>
          <a:prstGeom prst="rect">
            <a:avLst/>
          </a:prstGeom>
          <a:noFill/>
          <a:ln>
            <a:noFill/>
          </a:ln>
        </p:spPr>
        <p:txBody>
          <a:bodyPr spcFirstLastPara="1" wrap="square" lIns="91425" tIns="45700" rIns="91425" bIns="45700" anchor="t" anchorCtr="0">
            <a:noAutofit/>
          </a:bodyPr>
          <a:lstStyle/>
          <a:p>
            <a:pPr lvl="0"/>
            <a:r>
              <a:rPr lang="en-US" sz="1200" dirty="0"/>
              <a:t>Built system analyzes customer sentiment and trending topics, and forecasts future engagement over time.</a:t>
            </a:r>
          </a:p>
        </p:txBody>
      </p:sp>
      <p:sp>
        <p:nvSpPr>
          <p:cNvPr id="36" name="Google Shape;36;p1"/>
          <p:cNvSpPr txBox="1"/>
          <p:nvPr/>
        </p:nvSpPr>
        <p:spPr>
          <a:xfrm>
            <a:off x="186842" y="5184805"/>
            <a:ext cx="4324418" cy="751488"/>
          </a:xfrm>
          <a:prstGeom prst="rect">
            <a:avLst/>
          </a:prstGeom>
          <a:noFill/>
          <a:ln>
            <a:noFill/>
          </a:ln>
        </p:spPr>
        <p:txBody>
          <a:bodyPr spcFirstLastPara="1" wrap="square" lIns="91425" tIns="45700" rIns="91425" bIns="45700" anchor="t" anchorCtr="0">
            <a:noAutofit/>
          </a:bodyPr>
          <a:lstStyle/>
          <a:p>
            <a:pPr lvl="0"/>
            <a:r>
              <a:rPr lang="en-US" sz="1200" dirty="0"/>
              <a:t>Build a system capable of analyzing customer sentiment, identifying trends, and forecasting engagement using real social media data and produce insights with real‑world value.</a:t>
            </a:r>
          </a:p>
        </p:txBody>
      </p:sp>
      <p:sp>
        <p:nvSpPr>
          <p:cNvPr id="37" name="Google Shape;37;p1"/>
          <p:cNvSpPr txBox="1"/>
          <p:nvPr/>
        </p:nvSpPr>
        <p:spPr>
          <a:xfrm>
            <a:off x="4558232" y="1963919"/>
            <a:ext cx="4324418" cy="1081065"/>
          </a:xfrm>
          <a:prstGeom prst="rect">
            <a:avLst/>
          </a:prstGeom>
          <a:noFill/>
          <a:ln>
            <a:noFill/>
          </a:ln>
        </p:spPr>
        <p:txBody>
          <a:bodyPr spcFirstLastPara="1" wrap="square" lIns="91425" tIns="45700" rIns="91425" bIns="45700" anchor="t" anchorCtr="0">
            <a:noAutofit/>
          </a:bodyPr>
          <a:lstStyle/>
          <a:p>
            <a:pPr marL="171450" lvl="0" indent="-171450">
              <a:buFont typeface="Arial" panose="020B0604020202020204" pitchFamily="34" charset="0"/>
              <a:buChar char="•"/>
            </a:pPr>
            <a:r>
              <a:rPr lang="en-US" sz="1200" dirty="0"/>
              <a:t>Data set has lot of messy data to work with.</a:t>
            </a:r>
          </a:p>
        </p:txBody>
      </p:sp>
      <p:sp>
        <p:nvSpPr>
          <p:cNvPr id="38" name="Google Shape;38;p1"/>
          <p:cNvSpPr txBox="1"/>
          <p:nvPr/>
        </p:nvSpPr>
        <p:spPr>
          <a:xfrm>
            <a:off x="4590928" y="5085174"/>
            <a:ext cx="4324418" cy="1081065"/>
          </a:xfrm>
          <a:prstGeom prst="rect">
            <a:avLst/>
          </a:prstGeom>
          <a:noFill/>
          <a:ln>
            <a:noFill/>
          </a:ln>
        </p:spPr>
        <p:txBody>
          <a:bodyPr spcFirstLastPara="1" wrap="square" lIns="91425" tIns="45700" rIns="91425" bIns="45700" anchor="t" anchorCtr="0">
            <a:noAutofit/>
          </a:bodyPr>
          <a:lstStyle/>
          <a:p>
            <a:r>
              <a:rPr lang="en-US" u="sng" dirty="0">
                <a:hlinkClick r:id="rId3"/>
              </a:rPr>
              <a:t>Twitter US Airline Sentiment</a:t>
            </a:r>
            <a:endParaRPr lang="en-US" dirty="0"/>
          </a:p>
          <a:p>
            <a:r>
              <a:rPr lang="en-US" dirty="0"/>
              <a:t>15 columns, more than 14000 tweets</a:t>
            </a:r>
          </a:p>
          <a:p>
            <a:pPr marL="285750" indent="-285750">
              <a:buFont typeface="Arial" panose="020B0604020202020204" pitchFamily="34" charset="0"/>
              <a:buChar char="•"/>
            </a:pPr>
            <a:endParaRPr sz="1100" b="1" i="0" u="none" strike="noStrike" cap="none" dirty="0">
              <a:solidFill>
                <a:srgbClr val="000000"/>
              </a:solidFill>
              <a:latin typeface="Arial"/>
              <a:ea typeface="Arial"/>
              <a:cs typeface="Arial"/>
              <a:sym typeface="Arial"/>
            </a:endParaRPr>
          </a:p>
        </p:txBody>
      </p:sp>
      <p:sp>
        <p:nvSpPr>
          <p:cNvPr id="39" name="Google Shape;39;p1"/>
          <p:cNvSpPr/>
          <p:nvPr/>
        </p:nvSpPr>
        <p:spPr>
          <a:xfrm>
            <a:off x="6633337" y="652441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0" name="Google Shape;40;p1"/>
          <p:cNvSpPr/>
          <p:nvPr/>
        </p:nvSpPr>
        <p:spPr>
          <a:xfrm>
            <a:off x="7028512" y="651371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D</a:t>
            </a:r>
            <a:endParaRPr sz="1400" b="0" i="0" u="none" strike="noStrike" cap="none">
              <a:solidFill>
                <a:srgbClr val="000000"/>
              </a:solidFill>
              <a:latin typeface="Arial"/>
              <a:ea typeface="Arial"/>
              <a:cs typeface="Arial"/>
              <a:sym typeface="Arial"/>
            </a:endParaRPr>
          </a:p>
        </p:txBody>
      </p:sp>
      <p:sp>
        <p:nvSpPr>
          <p:cNvPr id="41" name="Google Shape;41;p1"/>
          <p:cNvSpPr/>
          <p:nvPr/>
        </p:nvSpPr>
        <p:spPr>
          <a:xfrm>
            <a:off x="7452320"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E</a:t>
            </a:r>
            <a:endParaRPr sz="1400" b="0" i="0" u="none" strike="noStrike" cap="none">
              <a:solidFill>
                <a:srgbClr val="000000"/>
              </a:solidFill>
              <a:latin typeface="Arial"/>
              <a:ea typeface="Arial"/>
              <a:cs typeface="Arial"/>
              <a:sym typeface="Arial"/>
            </a:endParaRPr>
          </a:p>
        </p:txBody>
      </p:sp>
      <p:sp>
        <p:nvSpPr>
          <p:cNvPr id="42" name="Google Shape;42;p1"/>
          <p:cNvSpPr/>
          <p:nvPr/>
        </p:nvSpPr>
        <p:spPr>
          <a:xfrm>
            <a:off x="7846662" y="650808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I</a:t>
            </a:r>
            <a:endParaRPr sz="1400" b="0" i="0" u="none" strike="noStrike" cap="none">
              <a:solidFill>
                <a:srgbClr val="000000"/>
              </a:solidFill>
              <a:latin typeface="Arial"/>
              <a:ea typeface="Arial"/>
              <a:cs typeface="Arial"/>
              <a:sym typeface="Arial"/>
            </a:endParaRPr>
          </a:p>
        </p:txBody>
      </p:sp>
      <p:sp>
        <p:nvSpPr>
          <p:cNvPr id="43" name="Google Shape;43;p1"/>
          <p:cNvSpPr/>
          <p:nvPr/>
        </p:nvSpPr>
        <p:spPr>
          <a:xfrm>
            <a:off x="8245692"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P</a:t>
            </a:r>
            <a:endParaRPr sz="1400" b="0" i="0" u="none" strike="noStrike" cap="none">
              <a:solidFill>
                <a:srgbClr val="000000"/>
              </a:solidFill>
              <a:latin typeface="Arial"/>
              <a:ea typeface="Arial"/>
              <a:cs typeface="Arial"/>
              <a:sym typeface="Arial"/>
            </a:endParaRPr>
          </a:p>
        </p:txBody>
      </p:sp>
      <p:sp>
        <p:nvSpPr>
          <p:cNvPr id="44" name="Google Shape;44;p1"/>
          <p:cNvSpPr/>
          <p:nvPr/>
        </p:nvSpPr>
        <p:spPr>
          <a:xfrm>
            <a:off x="8099130" y="70712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5" name="Google Shape;45;p1"/>
          <p:cNvSpPr/>
          <p:nvPr/>
        </p:nvSpPr>
        <p:spPr>
          <a:xfrm>
            <a:off x="121750" y="116631"/>
            <a:ext cx="7724912" cy="1137079"/>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84140" y="189590"/>
            <a:ext cx="8793596" cy="30777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AU" sz="2000" dirty="0">
                <a:solidFill>
                  <a:srgbClr val="29748D"/>
                </a:solidFill>
                <a:latin typeface="Quattrocento Sans"/>
                <a:ea typeface="Quattrocento Sans"/>
                <a:cs typeface="Quattrocento Sans"/>
                <a:sym typeface="Quattrocento Sans"/>
              </a:rPr>
              <a:t>Problem Statement Worksheet (Hypothesis Formation)</a:t>
            </a:r>
            <a:endParaRPr dirty="0"/>
          </a:p>
        </p:txBody>
      </p:sp>
      <p:sp>
        <p:nvSpPr>
          <p:cNvPr id="47" name="Google Shape;47;p1"/>
          <p:cNvSpPr txBox="1"/>
          <p:nvPr/>
        </p:nvSpPr>
        <p:spPr>
          <a:xfrm>
            <a:off x="4607126" y="3547600"/>
            <a:ext cx="4324418" cy="1081065"/>
          </a:xfrm>
          <a:prstGeom prst="rect">
            <a:avLst/>
          </a:prstGeom>
          <a:noFill/>
          <a:ln>
            <a:noFill/>
          </a:ln>
        </p:spPr>
        <p:txBody>
          <a:bodyPr spcFirstLastPara="1" wrap="square" lIns="91425" tIns="45700" rIns="91425" bIns="45700" anchor="t" anchorCtr="0">
            <a:noAutofit/>
          </a:bodyPr>
          <a:lstStyle/>
          <a:p>
            <a:pPr marL="285750" lvl="0" indent="-285750">
              <a:buFont typeface="Arial" panose="020B0604020202020204" pitchFamily="34" charset="0"/>
              <a:buChar char="•"/>
            </a:pPr>
            <a:r>
              <a:rPr lang="en-US" sz="1200" b="0" i="0" u="none" strike="noStrike" cap="none" dirty="0">
                <a:solidFill>
                  <a:srgbClr val="000000"/>
                </a:solidFill>
                <a:latin typeface="Arial"/>
                <a:ea typeface="Arial"/>
                <a:cs typeface="Arial"/>
                <a:sym typeface="Arial"/>
              </a:rPr>
              <a:t>Mentor.</a:t>
            </a:r>
            <a:endParaRPr sz="1200" b="0" i="0" u="none" strike="noStrike" cap="none" dirty="0">
              <a:solidFill>
                <a:srgbClr val="000000"/>
              </a:solidFill>
              <a:latin typeface="Arial"/>
              <a:ea typeface="Arial"/>
              <a:cs typeface="Arial"/>
              <a:sym typeface="Arial"/>
            </a:endParaRPr>
          </a:p>
        </p:txBody>
      </p:sp>
      <p:sp>
        <p:nvSpPr>
          <p:cNvPr id="48" name="Google Shape;48;p1"/>
          <p:cNvSpPr txBox="1"/>
          <p:nvPr/>
        </p:nvSpPr>
        <p:spPr>
          <a:xfrm>
            <a:off x="184140" y="540901"/>
            <a:ext cx="8584648" cy="492443"/>
          </a:xfrm>
          <a:prstGeom prst="rect">
            <a:avLst/>
          </a:prstGeom>
          <a:noFill/>
          <a:ln>
            <a:noFill/>
          </a:ln>
        </p:spPr>
        <p:txBody>
          <a:bodyPr spcFirstLastPara="1" wrap="square" lIns="91425" tIns="45700" rIns="91425" bIns="45700" anchor="t" anchorCtr="0">
            <a:noAutofit/>
          </a:bodyPr>
          <a:lstStyle/>
          <a:p>
            <a:pPr lvl="0">
              <a:buSzPts val="1400"/>
            </a:pPr>
            <a:r>
              <a:rPr lang="en-US" b="1" dirty="0"/>
              <a:t>What opportunities exist to predict customer Sentiment related to airline?</a:t>
            </a:r>
          </a:p>
        </p:txBody>
      </p:sp>
    </p:spTree>
  </p:cSld>
  <p:clrMapOvr>
    <a:masterClrMapping/>
  </p:clrMapOvr>
</p:sld>
</file>

<file path=ppt/theme/theme1.xml><?xml version="1.0" encoding="utf-8"?>
<a:theme xmlns:a="http://schemas.openxmlformats.org/drawingml/2006/main" name="Synergy_CF_YNR002">
  <a:themeElements>
    <a:clrScheme name="Current">
      <a:dk1>
        <a:srgbClr val="002C46"/>
      </a:dk1>
      <a:lt1>
        <a:srgbClr val="FFFFFF"/>
      </a:lt1>
      <a:dk2>
        <a:srgbClr val="FBC14E"/>
      </a:dk2>
      <a:lt2>
        <a:srgbClr val="879C16"/>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463</Words>
  <Application>Microsoft Office PowerPoint</Application>
  <PresentationFormat>On-screen Show (4:3)</PresentationFormat>
  <Paragraphs>42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Quattrocento Sans</vt:lpstr>
      <vt:lpstr>Synergy_CF_YNR002</vt:lpstr>
      <vt:lpstr>Problem Statement Worksheet (Hypothesis 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Christopher H</dc:creator>
  <cp:lastModifiedBy>Neelam Pandey</cp:lastModifiedBy>
  <cp:revision>14</cp:revision>
  <dcterms:modified xsi:type="dcterms:W3CDTF">2026-01-16T16:10:33Z</dcterms:modified>
</cp:coreProperties>
</file>